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16"/>
  </p:notesMasterIdLst>
  <p:handoutMasterIdLst>
    <p:handoutMasterId r:id="rId17"/>
  </p:handoutMasterIdLst>
  <p:sldIdLst>
    <p:sldId id="410" r:id="rId5"/>
    <p:sldId id="411" r:id="rId6"/>
    <p:sldId id="413" r:id="rId7"/>
    <p:sldId id="414" r:id="rId8"/>
    <p:sldId id="415" r:id="rId9"/>
    <p:sldId id="416" r:id="rId10"/>
    <p:sldId id="417" r:id="rId11"/>
    <p:sldId id="418" r:id="rId12"/>
    <p:sldId id="419" r:id="rId13"/>
    <p:sldId id="420" r:id="rId14"/>
    <p:sldId id="42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EC6731-5BA5-4350-8D2D-1FD1C515BFD8}" v="11" dt="2025-11-15T19:35:08.248"/>
  </p1510:revLst>
</p1510:revInfo>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96327" autoAdjust="0"/>
  </p:normalViewPr>
  <p:slideViewPr>
    <p:cSldViewPr snapToGrid="0">
      <p:cViewPr>
        <p:scale>
          <a:sx n="97" d="100"/>
          <a:sy n="97" d="100"/>
        </p:scale>
        <p:origin x="103" y="41"/>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han Posniak" userId="ccc6fd7eda71ea56" providerId="LiveId" clId="{736C1472-2DEE-48EE-AB10-D10D944231F4}"/>
    <pc:docChg chg="undo custSel modSld">
      <pc:chgData name="Nathan Posniak" userId="ccc6fd7eda71ea56" providerId="LiveId" clId="{736C1472-2DEE-48EE-AB10-D10D944231F4}" dt="2025-11-15T19:35:54.574" v="1637" actId="1036"/>
      <pc:docMkLst>
        <pc:docMk/>
      </pc:docMkLst>
      <pc:sldChg chg="modSp mod">
        <pc:chgData name="Nathan Posniak" userId="ccc6fd7eda71ea56" providerId="LiveId" clId="{736C1472-2DEE-48EE-AB10-D10D944231F4}" dt="2025-11-15T19:28:49.706" v="1558" actId="20577"/>
        <pc:sldMkLst>
          <pc:docMk/>
          <pc:sldMk cId="2336592014" sldId="413"/>
        </pc:sldMkLst>
        <pc:spChg chg="mod">
          <ac:chgData name="Nathan Posniak" userId="ccc6fd7eda71ea56" providerId="LiveId" clId="{736C1472-2DEE-48EE-AB10-D10D944231F4}" dt="2025-11-15T19:28:49.706" v="1558" actId="20577"/>
          <ac:spMkLst>
            <pc:docMk/>
            <pc:sldMk cId="2336592014" sldId="413"/>
            <ac:spMk id="3" creationId="{9C83E0D1-E3A4-BCB3-8B4C-C0E43C71A0A9}"/>
          </ac:spMkLst>
        </pc:spChg>
      </pc:sldChg>
      <pc:sldChg chg="delSp mod">
        <pc:chgData name="Nathan Posniak" userId="ccc6fd7eda71ea56" providerId="LiveId" clId="{736C1472-2DEE-48EE-AB10-D10D944231F4}" dt="2025-11-15T19:35:41.113" v="1635" actId="478"/>
        <pc:sldMkLst>
          <pc:docMk/>
          <pc:sldMk cId="803828746" sldId="415"/>
        </pc:sldMkLst>
        <pc:spChg chg="del">
          <ac:chgData name="Nathan Posniak" userId="ccc6fd7eda71ea56" providerId="LiveId" clId="{736C1472-2DEE-48EE-AB10-D10D944231F4}" dt="2025-11-15T19:35:41.113" v="1635" actId="478"/>
          <ac:spMkLst>
            <pc:docMk/>
            <pc:sldMk cId="803828746" sldId="415"/>
            <ac:spMk id="4" creationId="{4468A4BD-322D-1C96-617E-F970CB0C8EFD}"/>
          </ac:spMkLst>
        </pc:spChg>
      </pc:sldChg>
      <pc:sldChg chg="addSp modSp mod">
        <pc:chgData name="Nathan Posniak" userId="ccc6fd7eda71ea56" providerId="LiveId" clId="{736C1472-2DEE-48EE-AB10-D10D944231F4}" dt="2025-11-15T19:30:52.190" v="1570" actId="1076"/>
        <pc:sldMkLst>
          <pc:docMk/>
          <pc:sldMk cId="1126453080" sldId="416"/>
        </pc:sldMkLst>
        <pc:spChg chg="add mod">
          <ac:chgData name="Nathan Posniak" userId="ccc6fd7eda71ea56" providerId="LiveId" clId="{736C1472-2DEE-48EE-AB10-D10D944231F4}" dt="2025-11-15T19:30:52.190" v="1570" actId="1076"/>
          <ac:spMkLst>
            <pc:docMk/>
            <pc:sldMk cId="1126453080" sldId="416"/>
            <ac:spMk id="16" creationId="{CEB9DB62-D811-7969-C13E-8BFEF5FE0698}"/>
          </ac:spMkLst>
        </pc:spChg>
        <pc:picChg chg="mod">
          <ac:chgData name="Nathan Posniak" userId="ccc6fd7eda71ea56" providerId="LiveId" clId="{736C1472-2DEE-48EE-AB10-D10D944231F4}" dt="2025-11-15T19:30:45.499" v="1568" actId="1076"/>
          <ac:picMkLst>
            <pc:docMk/>
            <pc:sldMk cId="1126453080" sldId="416"/>
            <ac:picMk id="13" creationId="{08B28624-AE4B-774C-37B5-FB8C8A01DFAD}"/>
          </ac:picMkLst>
        </pc:picChg>
      </pc:sldChg>
      <pc:sldChg chg="modSp">
        <pc:chgData name="Nathan Posniak" userId="ccc6fd7eda71ea56" providerId="LiveId" clId="{736C1472-2DEE-48EE-AB10-D10D944231F4}" dt="2025-11-15T19:31:28.489" v="1571" actId="14100"/>
        <pc:sldMkLst>
          <pc:docMk/>
          <pc:sldMk cId="1384755156" sldId="417"/>
        </pc:sldMkLst>
        <pc:picChg chg="mod">
          <ac:chgData name="Nathan Posniak" userId="ccc6fd7eda71ea56" providerId="LiveId" clId="{736C1472-2DEE-48EE-AB10-D10D944231F4}" dt="2025-11-15T19:31:28.489" v="1571" actId="14100"/>
          <ac:picMkLst>
            <pc:docMk/>
            <pc:sldMk cId="1384755156" sldId="417"/>
            <ac:picMk id="5" creationId="{C9CA2DC7-21FA-ABE4-5DFC-81E1ED1D4CDA}"/>
          </ac:picMkLst>
        </pc:picChg>
      </pc:sldChg>
      <pc:sldChg chg="addSp modSp mod">
        <pc:chgData name="Nathan Posniak" userId="ccc6fd7eda71ea56" providerId="LiveId" clId="{736C1472-2DEE-48EE-AB10-D10D944231F4}" dt="2025-11-15T19:35:54.574" v="1637" actId="1036"/>
        <pc:sldMkLst>
          <pc:docMk/>
          <pc:sldMk cId="2978761755" sldId="418"/>
        </pc:sldMkLst>
        <pc:spChg chg="add mod">
          <ac:chgData name="Nathan Posniak" userId="ccc6fd7eda71ea56" providerId="LiveId" clId="{736C1472-2DEE-48EE-AB10-D10D944231F4}" dt="2025-11-15T19:31:54.619" v="1580" actId="1038"/>
          <ac:spMkLst>
            <pc:docMk/>
            <pc:sldMk cId="2978761755" sldId="418"/>
            <ac:spMk id="10" creationId="{83A250ED-3134-1B85-61B2-4BB87E5E0A76}"/>
          </ac:spMkLst>
        </pc:spChg>
        <pc:spChg chg="add mod">
          <ac:chgData name="Nathan Posniak" userId="ccc6fd7eda71ea56" providerId="LiveId" clId="{736C1472-2DEE-48EE-AB10-D10D944231F4}" dt="2025-11-15T19:32:23.723" v="1586" actId="14100"/>
          <ac:spMkLst>
            <pc:docMk/>
            <pc:sldMk cId="2978761755" sldId="418"/>
            <ac:spMk id="11" creationId="{21674539-B622-2B96-50D1-F8FD64BF19CC}"/>
          </ac:spMkLst>
        </pc:spChg>
        <pc:spChg chg="add mod">
          <ac:chgData name="Nathan Posniak" userId="ccc6fd7eda71ea56" providerId="LiveId" clId="{736C1472-2DEE-48EE-AB10-D10D944231F4}" dt="2025-11-15T19:33:49.116" v="1599" actId="1076"/>
          <ac:spMkLst>
            <pc:docMk/>
            <pc:sldMk cId="2978761755" sldId="418"/>
            <ac:spMk id="12" creationId="{1AC62ACB-48A9-9D25-60C6-3E754D375273}"/>
          </ac:spMkLst>
        </pc:spChg>
        <pc:picChg chg="mod">
          <ac:chgData name="Nathan Posniak" userId="ccc6fd7eda71ea56" providerId="LiveId" clId="{736C1472-2DEE-48EE-AB10-D10D944231F4}" dt="2025-11-15T19:35:54.574" v="1637" actId="1036"/>
          <ac:picMkLst>
            <pc:docMk/>
            <pc:sldMk cId="2978761755" sldId="418"/>
            <ac:picMk id="9" creationId="{9189AC25-D3F1-1C10-8081-6E09961CA4FB}"/>
          </ac:picMkLst>
        </pc:picChg>
      </pc:sldChg>
      <pc:sldChg chg="modSp mod">
        <pc:chgData name="Nathan Posniak" userId="ccc6fd7eda71ea56" providerId="LiveId" clId="{736C1472-2DEE-48EE-AB10-D10D944231F4}" dt="2025-11-15T19:02:15.073" v="688" actId="20577"/>
        <pc:sldMkLst>
          <pc:docMk/>
          <pc:sldMk cId="1641173656" sldId="419"/>
        </pc:sldMkLst>
        <pc:spChg chg="mod">
          <ac:chgData name="Nathan Posniak" userId="ccc6fd7eda71ea56" providerId="LiveId" clId="{736C1472-2DEE-48EE-AB10-D10D944231F4}" dt="2025-11-15T18:51:05.436" v="72" actId="20577"/>
          <ac:spMkLst>
            <pc:docMk/>
            <pc:sldMk cId="1641173656" sldId="419"/>
            <ac:spMk id="2" creationId="{335067D3-6404-9AD6-D047-9964B1C3AF95}"/>
          </ac:spMkLst>
        </pc:spChg>
        <pc:spChg chg="mod">
          <ac:chgData name="Nathan Posniak" userId="ccc6fd7eda71ea56" providerId="LiveId" clId="{736C1472-2DEE-48EE-AB10-D10D944231F4}" dt="2025-11-15T19:02:15.073" v="688" actId="20577"/>
          <ac:spMkLst>
            <pc:docMk/>
            <pc:sldMk cId="1641173656" sldId="419"/>
            <ac:spMk id="3" creationId="{55A4CC65-A26D-8D7F-9756-DF01A96FC30D}"/>
          </ac:spMkLst>
        </pc:spChg>
        <pc:picChg chg="mod">
          <ac:chgData name="Nathan Posniak" userId="ccc6fd7eda71ea56" providerId="LiveId" clId="{736C1472-2DEE-48EE-AB10-D10D944231F4}" dt="2025-11-15T18:49:49.159" v="0" actId="14100"/>
          <ac:picMkLst>
            <pc:docMk/>
            <pc:sldMk cId="1641173656" sldId="419"/>
            <ac:picMk id="5" creationId="{C9F6FE2A-5CB8-04BA-0E43-C95419D13006}"/>
          </ac:picMkLst>
        </pc:picChg>
      </pc:sldChg>
      <pc:sldChg chg="addSp delSp modSp mod">
        <pc:chgData name="Nathan Posniak" userId="ccc6fd7eda71ea56" providerId="LiveId" clId="{736C1472-2DEE-48EE-AB10-D10D944231F4}" dt="2025-11-15T19:34:13.929" v="1604" actId="478"/>
        <pc:sldMkLst>
          <pc:docMk/>
          <pc:sldMk cId="1863054725" sldId="420"/>
        </pc:sldMkLst>
        <pc:spChg chg="mod">
          <ac:chgData name="Nathan Posniak" userId="ccc6fd7eda71ea56" providerId="LiveId" clId="{736C1472-2DEE-48EE-AB10-D10D944231F4}" dt="2025-11-15T19:02:55.812" v="707" actId="20577"/>
          <ac:spMkLst>
            <pc:docMk/>
            <pc:sldMk cId="1863054725" sldId="420"/>
            <ac:spMk id="2" creationId="{1972F165-BB25-B631-7E8A-11D1AFDB8B29}"/>
          </ac:spMkLst>
        </pc:spChg>
        <pc:spChg chg="mod">
          <ac:chgData name="Nathan Posniak" userId="ccc6fd7eda71ea56" providerId="LiveId" clId="{736C1472-2DEE-48EE-AB10-D10D944231F4}" dt="2025-11-15T19:25:17.297" v="1158" actId="20577"/>
          <ac:spMkLst>
            <pc:docMk/>
            <pc:sldMk cId="1863054725" sldId="420"/>
            <ac:spMk id="3" creationId="{842D7E9C-BD06-A063-9FA3-BBF3B60E842F}"/>
          </ac:spMkLst>
        </pc:spChg>
        <pc:spChg chg="add del mod">
          <ac:chgData name="Nathan Posniak" userId="ccc6fd7eda71ea56" providerId="LiveId" clId="{736C1472-2DEE-48EE-AB10-D10D944231F4}" dt="2025-11-15T19:23:36.120" v="958" actId="478"/>
          <ac:spMkLst>
            <pc:docMk/>
            <pc:sldMk cId="1863054725" sldId="420"/>
            <ac:spMk id="8" creationId="{5E717B8A-1E93-A329-2845-A9441C472F5F}"/>
          </ac:spMkLst>
        </pc:spChg>
        <pc:spChg chg="add mod">
          <ac:chgData name="Nathan Posniak" userId="ccc6fd7eda71ea56" providerId="LiveId" clId="{736C1472-2DEE-48EE-AB10-D10D944231F4}" dt="2025-11-15T19:33:36.592" v="1596" actId="1076"/>
          <ac:spMkLst>
            <pc:docMk/>
            <pc:sldMk cId="1863054725" sldId="420"/>
            <ac:spMk id="11" creationId="{776AC010-B000-325A-727A-E5A5E8DB8191}"/>
          </ac:spMkLst>
        </pc:spChg>
        <pc:spChg chg="add del mod">
          <ac:chgData name="Nathan Posniak" userId="ccc6fd7eda71ea56" providerId="LiveId" clId="{736C1472-2DEE-48EE-AB10-D10D944231F4}" dt="2025-11-15T19:34:13.929" v="1604" actId="478"/>
          <ac:spMkLst>
            <pc:docMk/>
            <pc:sldMk cId="1863054725" sldId="420"/>
            <ac:spMk id="12" creationId="{88F4CB69-10A7-FE43-55EF-5D7E79A120A4}"/>
          </ac:spMkLst>
        </pc:spChg>
        <pc:picChg chg="del mod">
          <ac:chgData name="Nathan Posniak" userId="ccc6fd7eda71ea56" providerId="LiveId" clId="{736C1472-2DEE-48EE-AB10-D10D944231F4}" dt="2025-11-15T19:23:29.588" v="954" actId="478"/>
          <ac:picMkLst>
            <pc:docMk/>
            <pc:sldMk cId="1863054725" sldId="420"/>
            <ac:picMk id="6" creationId="{86C46317-BE56-A944-211F-93905A80D79C}"/>
          </ac:picMkLst>
        </pc:picChg>
        <pc:picChg chg="add mod">
          <ac:chgData name="Nathan Posniak" userId="ccc6fd7eda71ea56" providerId="LiveId" clId="{736C1472-2DEE-48EE-AB10-D10D944231F4}" dt="2025-11-15T19:33:31.152" v="1595" actId="1076"/>
          <ac:picMkLst>
            <pc:docMk/>
            <pc:sldMk cId="1863054725" sldId="420"/>
            <ac:picMk id="10" creationId="{931AEFFB-CAFD-56BB-7C3F-5DD64C56A0FC}"/>
          </ac:picMkLst>
        </pc:picChg>
      </pc:sldChg>
      <pc:sldChg chg="addSp delSp modSp mod">
        <pc:chgData name="Nathan Posniak" userId="ccc6fd7eda71ea56" providerId="LiveId" clId="{736C1472-2DEE-48EE-AB10-D10D944231F4}" dt="2025-11-15T19:35:22.822" v="1634" actId="20577"/>
        <pc:sldMkLst>
          <pc:docMk/>
          <pc:sldMk cId="805495083" sldId="421"/>
        </pc:sldMkLst>
        <pc:spChg chg="add del mod">
          <ac:chgData name="Nathan Posniak" userId="ccc6fd7eda71ea56" providerId="LiveId" clId="{736C1472-2DEE-48EE-AB10-D10D944231F4}" dt="2025-11-15T19:27:27.926" v="1544" actId="21"/>
          <ac:spMkLst>
            <pc:docMk/>
            <pc:sldMk cId="805495083" sldId="421"/>
            <ac:spMk id="2" creationId="{9C802928-CB8F-2598-60D9-61FE3D2DFB39}"/>
          </ac:spMkLst>
        </pc:spChg>
        <pc:spChg chg="mod">
          <ac:chgData name="Nathan Posniak" userId="ccc6fd7eda71ea56" providerId="LiveId" clId="{736C1472-2DEE-48EE-AB10-D10D944231F4}" dt="2025-11-15T19:35:22.822" v="1634" actId="20577"/>
          <ac:spMkLst>
            <pc:docMk/>
            <pc:sldMk cId="805495083" sldId="421"/>
            <ac:spMk id="3" creationId="{16A8EE7D-31F3-80B8-F446-6500E79A211E}"/>
          </ac:spMkLst>
        </pc:spChg>
        <pc:spChg chg="add del mod">
          <ac:chgData name="Nathan Posniak" userId="ccc6fd7eda71ea56" providerId="LiveId" clId="{736C1472-2DEE-48EE-AB10-D10D944231F4}" dt="2025-11-15T19:27:27.926" v="1544" actId="21"/>
          <ac:spMkLst>
            <pc:docMk/>
            <pc:sldMk cId="805495083" sldId="421"/>
            <ac:spMk id="5" creationId="{72EEEAA6-8B62-84E3-8C4C-89A955B2E6C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11/14/2025</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11/14/2025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6309904" y="411479"/>
            <a:ext cx="5486400" cy="3291840"/>
          </a:xfrm>
        </p:spPr>
        <p:txBody>
          <a:bodyPr/>
          <a:lstStyle/>
          <a:p>
            <a:r>
              <a:rPr lang="en-US" dirty="0"/>
              <a:t>CPU Scheduling</a:t>
            </a:r>
            <a:br>
              <a:rPr lang="en-US" dirty="0"/>
            </a:br>
            <a:r>
              <a:rPr lang="en-US" sz="2000" dirty="0"/>
              <a:t>FCFS, SJF, SRTF, and Round Robin</a:t>
            </a:r>
            <a:br>
              <a:rPr lang="en-US" sz="2000" dirty="0"/>
            </a:br>
            <a:br>
              <a:rPr lang="en-US" sz="1000" dirty="0"/>
            </a:br>
            <a:endParaRPr lang="en-US" dirty="0"/>
          </a:p>
        </p:txBody>
      </p:sp>
      <p:sp>
        <p:nvSpPr>
          <p:cNvPr id="3" name="TextBox 2">
            <a:extLst>
              <a:ext uri="{FF2B5EF4-FFF2-40B4-BE49-F238E27FC236}">
                <a16:creationId xmlns:a16="http://schemas.microsoft.com/office/drawing/2014/main" id="{289E3026-35D9-5441-AD56-798B1ADE848F}"/>
              </a:ext>
            </a:extLst>
          </p:cNvPr>
          <p:cNvSpPr txBox="1"/>
          <p:nvPr/>
        </p:nvSpPr>
        <p:spPr>
          <a:xfrm>
            <a:off x="6247087" y="3518653"/>
            <a:ext cx="1728294" cy="369332"/>
          </a:xfrm>
          <a:prstGeom prst="rect">
            <a:avLst/>
          </a:prstGeom>
          <a:noFill/>
        </p:spPr>
        <p:txBody>
          <a:bodyPr wrap="none" rtlCol="0">
            <a:spAutoFit/>
          </a:bodyPr>
          <a:lstStyle/>
          <a:p>
            <a:r>
              <a:rPr lang="en-US" dirty="0">
                <a:solidFill>
                  <a:schemeClr val="bg1"/>
                </a:solidFill>
              </a:rPr>
              <a:t>Nathan Posniak</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0B347-6A4B-77B3-E661-20A9DAEF6A0B}"/>
              </a:ext>
            </a:extLst>
          </p:cNvPr>
          <p:cNvSpPr>
            <a:spLocks noGrp="1"/>
          </p:cNvSpPr>
          <p:nvPr>
            <p:ph type="title"/>
          </p:nvPr>
        </p:nvSpPr>
        <p:spPr/>
        <p:txBody>
          <a:bodyPr/>
          <a:lstStyle/>
          <a:p>
            <a:r>
              <a:rPr lang="en-US" dirty="0"/>
              <a:t>CPU Scheduling Overview And Important Concepts</a:t>
            </a:r>
          </a:p>
        </p:txBody>
      </p:sp>
      <p:sp>
        <p:nvSpPr>
          <p:cNvPr id="5" name="Content Placeholder 4">
            <a:extLst>
              <a:ext uri="{FF2B5EF4-FFF2-40B4-BE49-F238E27FC236}">
                <a16:creationId xmlns:a16="http://schemas.microsoft.com/office/drawing/2014/main" id="{AFFC4F32-CA1E-C471-40E6-0862DE3E57C9}"/>
              </a:ext>
            </a:extLst>
          </p:cNvPr>
          <p:cNvSpPr>
            <a:spLocks noGrp="1"/>
          </p:cNvSpPr>
          <p:nvPr>
            <p:ph sz="quarter" idx="13"/>
          </p:nvPr>
        </p:nvSpPr>
        <p:spPr/>
        <p:txBody>
          <a:bodyPr/>
          <a:lstStyle/>
          <a:p>
            <a:pPr marL="342900" indent="-342900">
              <a:buFont typeface="Arial" panose="020B0604020202020204" pitchFamily="34" charset="0"/>
              <a:buChar char="•"/>
            </a:pPr>
            <a:r>
              <a:rPr lang="en-US" dirty="0"/>
              <a:t>A CPU scheduler’s job is to manage processes by allocating CPU time efficiently. We can measure CPU efficiency by measuring;</a:t>
            </a:r>
          </a:p>
          <a:p>
            <a:pPr marL="1028700" lvl="1" indent="-342900"/>
            <a:r>
              <a:rPr lang="en-US" sz="1600" dirty="0"/>
              <a:t>Turnaround Time</a:t>
            </a:r>
          </a:p>
          <a:p>
            <a:pPr marL="1485900" lvl="2" indent="-342900"/>
            <a:r>
              <a:rPr lang="en-US" sz="1400" dirty="0"/>
              <a:t>Total time from process arrival to its completion</a:t>
            </a:r>
          </a:p>
          <a:p>
            <a:pPr marL="1028700" lvl="1" indent="-342900"/>
            <a:r>
              <a:rPr lang="en-US" sz="1600" dirty="0"/>
              <a:t>Waiting Time</a:t>
            </a:r>
          </a:p>
          <a:p>
            <a:pPr marL="1485900" lvl="2" indent="-342900"/>
            <a:r>
              <a:rPr lang="en-US" sz="1400" dirty="0"/>
              <a:t>Total time the process spends ready while not executing</a:t>
            </a:r>
          </a:p>
          <a:p>
            <a:pPr marL="1028700" lvl="1" indent="-342900"/>
            <a:r>
              <a:rPr lang="en-US" sz="1600" dirty="0"/>
              <a:t>Response Time</a:t>
            </a:r>
          </a:p>
          <a:p>
            <a:pPr marL="1485900" lvl="2" indent="-342900"/>
            <a:r>
              <a:rPr lang="en-US" sz="1400" dirty="0"/>
              <a:t>Time from process arrival until the first time it starts executing.</a:t>
            </a:r>
          </a:p>
          <a:p>
            <a:pPr marL="1028700" lvl="1" indent="-342900"/>
            <a:endParaRPr lang="en-US" dirty="0"/>
          </a:p>
        </p:txBody>
      </p:sp>
      <p:pic>
        <p:nvPicPr>
          <p:cNvPr id="8" name="Content Placeholder 7">
            <a:extLst>
              <a:ext uri="{FF2B5EF4-FFF2-40B4-BE49-F238E27FC236}">
                <a16:creationId xmlns:a16="http://schemas.microsoft.com/office/drawing/2014/main" id="{1EB2AFBA-AFB4-DF90-13EA-395F78D4F50C}"/>
              </a:ext>
            </a:extLst>
          </p:cNvPr>
          <p:cNvPicPr>
            <a:picLocks noGrp="1" noChangeAspect="1"/>
          </p:cNvPicPr>
          <p:nvPr>
            <p:ph sz="quarter" idx="14"/>
          </p:nvPr>
        </p:nvPicPr>
        <p:blipFill>
          <a:blip r:embed="rId2"/>
          <a:stretch>
            <a:fillRect/>
          </a:stretch>
        </p:blipFill>
        <p:spPr>
          <a:xfrm>
            <a:off x="6590053" y="2798379"/>
            <a:ext cx="4893704" cy="2393659"/>
          </a:xfrm>
          <a:prstGeom prst="rect">
            <a:avLst/>
          </a:prstGeom>
        </p:spPr>
      </p:pic>
    </p:spTree>
    <p:extLst>
      <p:ext uri="{BB962C8B-B14F-4D97-AF65-F5344CB8AC3E}">
        <p14:creationId xmlns:p14="http://schemas.microsoft.com/office/powerpoint/2010/main" val="842978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EB836-2454-B576-A8DB-7B7E7A2BFD97}"/>
              </a:ext>
            </a:extLst>
          </p:cNvPr>
          <p:cNvSpPr>
            <a:spLocks noGrp="1"/>
          </p:cNvSpPr>
          <p:nvPr>
            <p:ph type="title"/>
          </p:nvPr>
        </p:nvSpPr>
        <p:spPr/>
        <p:txBody>
          <a:bodyPr/>
          <a:lstStyle/>
          <a:p>
            <a:r>
              <a:rPr lang="en-US" dirty="0"/>
              <a:t>	First-Come First-Served</a:t>
            </a:r>
          </a:p>
        </p:txBody>
      </p:sp>
      <p:sp>
        <p:nvSpPr>
          <p:cNvPr id="3" name="Content Placeholder 2">
            <a:extLst>
              <a:ext uri="{FF2B5EF4-FFF2-40B4-BE49-F238E27FC236}">
                <a16:creationId xmlns:a16="http://schemas.microsoft.com/office/drawing/2014/main" id="{9C83E0D1-E3A4-BCB3-8B4C-C0E43C71A0A9}"/>
              </a:ext>
            </a:extLst>
          </p:cNvPr>
          <p:cNvSpPr>
            <a:spLocks noGrp="1"/>
          </p:cNvSpPr>
          <p:nvPr>
            <p:ph sz="quarter" idx="13"/>
          </p:nvPr>
        </p:nvSpPr>
        <p:spPr/>
        <p:txBody>
          <a:bodyPr/>
          <a:lstStyle/>
          <a:p>
            <a:pPr marL="342900" indent="-342900">
              <a:buFont typeface="Arial" panose="020B0604020202020204" pitchFamily="34" charset="0"/>
              <a:buChar char="•"/>
            </a:pPr>
            <a:r>
              <a:rPr lang="en-US" dirty="0"/>
              <a:t>Simplest scheduling algorithm; works by executing jobs in the order in which they arrived</a:t>
            </a:r>
          </a:p>
          <a:p>
            <a:pPr marL="342900" indent="-342900">
              <a:buFont typeface="Arial" panose="020B0604020202020204" pitchFamily="34" charset="0"/>
              <a:buChar char="•"/>
            </a:pPr>
            <a:r>
              <a:rPr lang="en-US" dirty="0"/>
              <a:t>Advantages</a:t>
            </a:r>
          </a:p>
          <a:p>
            <a:pPr marL="1028700" lvl="1" indent="-342900"/>
            <a:r>
              <a:rPr lang="en-US" sz="1400" dirty="0"/>
              <a:t>Simple implementation and overhead</a:t>
            </a:r>
          </a:p>
          <a:p>
            <a:pPr marL="1028700" lvl="1" indent="-342900"/>
            <a:r>
              <a:rPr lang="en-US" sz="1400" dirty="0"/>
              <a:t>‘Fair’ in terms of arrival order</a:t>
            </a:r>
          </a:p>
          <a:p>
            <a:pPr marL="342900" indent="-342900">
              <a:buFont typeface="Arial" panose="020B0604020202020204" pitchFamily="34" charset="0"/>
              <a:buChar char="•"/>
            </a:pPr>
            <a:r>
              <a:rPr lang="en-US" dirty="0"/>
              <a:t>Disadvantages</a:t>
            </a:r>
          </a:p>
          <a:p>
            <a:pPr marL="1028700" lvl="1" indent="-342900"/>
            <a:r>
              <a:rPr lang="en-US" sz="1400" dirty="0"/>
              <a:t>Early long processes can hold up later arriving short ones, leading to poor average wait times, response times and turnaround</a:t>
            </a:r>
          </a:p>
          <a:p>
            <a:pPr marL="1028700" lvl="1" indent="-342900"/>
            <a:endParaRPr lang="en-US" sz="1400" dirty="0"/>
          </a:p>
          <a:p>
            <a:pPr marL="1028700" lvl="1" indent="-342900"/>
            <a:endParaRPr lang="en-US" sz="1400" dirty="0"/>
          </a:p>
        </p:txBody>
      </p:sp>
      <p:pic>
        <p:nvPicPr>
          <p:cNvPr id="5" name="Picture 2">
            <a:extLst>
              <a:ext uri="{FF2B5EF4-FFF2-40B4-BE49-F238E27FC236}">
                <a16:creationId xmlns:a16="http://schemas.microsoft.com/office/drawing/2014/main" id="{84695B5E-67CB-26E6-D210-C6E29B6AA068}"/>
              </a:ext>
            </a:extLst>
          </p:cNvPr>
          <p:cNvPicPr>
            <a:picLocks noGrp="1" noChangeAspect="1" noChangeArrowheads="1"/>
          </p:cNvPicPr>
          <p:nvPr>
            <p:ph sz="quarter" idx="14"/>
          </p:nvPr>
        </p:nvPicPr>
        <p:blipFill>
          <a:blip r:embed="rId2">
            <a:extLst>
              <a:ext uri="{28A0092B-C50C-407E-A947-70E740481C1C}">
                <a14:useLocalDpi xmlns:a14="http://schemas.microsoft.com/office/drawing/2010/main" val="0"/>
              </a:ext>
            </a:extLst>
          </a:blip>
          <a:srcRect/>
          <a:stretch>
            <a:fillRect/>
          </a:stretch>
        </p:blipFill>
        <p:spPr bwMode="auto">
          <a:xfrm>
            <a:off x="6342273" y="2443983"/>
            <a:ext cx="4912966" cy="345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6592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3C642-0624-CDFD-4883-385FE3D201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9B4A67-7252-080C-073A-8D7436FADA31}"/>
              </a:ext>
            </a:extLst>
          </p:cNvPr>
          <p:cNvSpPr>
            <a:spLocks noGrp="1"/>
          </p:cNvSpPr>
          <p:nvPr>
            <p:ph type="title"/>
          </p:nvPr>
        </p:nvSpPr>
        <p:spPr/>
        <p:txBody>
          <a:bodyPr/>
          <a:lstStyle/>
          <a:p>
            <a:r>
              <a:rPr lang="en-US" dirty="0"/>
              <a:t>	First-Come First-Served Testing</a:t>
            </a:r>
          </a:p>
        </p:txBody>
      </p:sp>
      <p:sp>
        <p:nvSpPr>
          <p:cNvPr id="3" name="Content Placeholder 2">
            <a:extLst>
              <a:ext uri="{FF2B5EF4-FFF2-40B4-BE49-F238E27FC236}">
                <a16:creationId xmlns:a16="http://schemas.microsoft.com/office/drawing/2014/main" id="{7FF94EA0-843B-BA15-CF8E-3D51397BFF10}"/>
              </a:ext>
            </a:extLst>
          </p:cNvPr>
          <p:cNvSpPr>
            <a:spLocks noGrp="1"/>
          </p:cNvSpPr>
          <p:nvPr>
            <p:ph sz="quarter" idx="13"/>
          </p:nvPr>
        </p:nvSpPr>
        <p:spPr/>
        <p:txBody>
          <a:bodyPr/>
          <a:lstStyle/>
          <a:p>
            <a:pPr marL="342900" indent="-342900">
              <a:buFont typeface="Arial" panose="020B0604020202020204" pitchFamily="34" charset="0"/>
              <a:buChar char="•"/>
            </a:pPr>
            <a:r>
              <a:rPr lang="en-US" dirty="0"/>
              <a:t>Between the advantaged and disadvantaged data set the same three jobs arrived but in a different order</a:t>
            </a:r>
          </a:p>
          <a:p>
            <a:pPr marL="1028700" lvl="1" indent="-342900"/>
            <a:r>
              <a:rPr lang="en-US" dirty="0"/>
              <a:t>When the jobs arrived in order of ascending burst time, turnaround, waiting, and response times were quite low</a:t>
            </a:r>
          </a:p>
          <a:p>
            <a:pPr marL="1028700" lvl="1" indent="-342900"/>
            <a:r>
              <a:rPr lang="en-US" dirty="0"/>
              <a:t>When the jobs arrived in order of descending burst time, these values all ballooned, as the early larger process led to the later processes waiting for longer</a:t>
            </a:r>
          </a:p>
          <a:p>
            <a:pPr marL="342900" indent="-342900">
              <a:buFont typeface="Arial" panose="020B0604020202020204" pitchFamily="34" charset="0"/>
              <a:buChar char="•"/>
            </a:pPr>
            <a:endParaRPr lang="en-US" dirty="0"/>
          </a:p>
        </p:txBody>
      </p:sp>
      <p:pic>
        <p:nvPicPr>
          <p:cNvPr id="6" name="Content Placeholder 5">
            <a:extLst>
              <a:ext uri="{FF2B5EF4-FFF2-40B4-BE49-F238E27FC236}">
                <a16:creationId xmlns:a16="http://schemas.microsoft.com/office/drawing/2014/main" id="{E6A808BE-157A-D557-FAA8-C82280898F41}"/>
              </a:ext>
            </a:extLst>
          </p:cNvPr>
          <p:cNvPicPr>
            <a:picLocks noGrp="1" noChangeAspect="1"/>
          </p:cNvPicPr>
          <p:nvPr>
            <p:ph sz="quarter" idx="14"/>
          </p:nvPr>
        </p:nvPicPr>
        <p:blipFill>
          <a:blip r:embed="rId2"/>
          <a:stretch>
            <a:fillRect/>
          </a:stretch>
        </p:blipFill>
        <p:spPr>
          <a:xfrm>
            <a:off x="6575545" y="1956622"/>
            <a:ext cx="3866600" cy="4345649"/>
          </a:xfrm>
          <a:prstGeom prst="rect">
            <a:avLst/>
          </a:prstGeom>
        </p:spPr>
      </p:pic>
      <p:sp>
        <p:nvSpPr>
          <p:cNvPr id="7" name="Oval 6">
            <a:extLst>
              <a:ext uri="{FF2B5EF4-FFF2-40B4-BE49-F238E27FC236}">
                <a16:creationId xmlns:a16="http://schemas.microsoft.com/office/drawing/2014/main" id="{08398D7A-F247-9BB7-3511-CDD9FC6D6AF4}"/>
              </a:ext>
            </a:extLst>
          </p:cNvPr>
          <p:cNvSpPr/>
          <p:nvPr/>
        </p:nvSpPr>
        <p:spPr>
          <a:xfrm>
            <a:off x="7705397" y="3667180"/>
            <a:ext cx="547851" cy="514624"/>
          </a:xfrm>
          <a:prstGeom prst="ellipse">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35E7C004-10F7-3CF4-99AB-742E79C32773}"/>
              </a:ext>
            </a:extLst>
          </p:cNvPr>
          <p:cNvSpPr/>
          <p:nvPr/>
        </p:nvSpPr>
        <p:spPr>
          <a:xfrm>
            <a:off x="7705397" y="5825742"/>
            <a:ext cx="547851" cy="514624"/>
          </a:xfrm>
          <a:prstGeom prst="ellipse">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33973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2C5A0-D843-F05B-20A2-C19F25AC2E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434AB4-1AA7-C7F8-E85C-65C74730F7DB}"/>
              </a:ext>
            </a:extLst>
          </p:cNvPr>
          <p:cNvSpPr>
            <a:spLocks noGrp="1"/>
          </p:cNvSpPr>
          <p:nvPr>
            <p:ph type="title"/>
          </p:nvPr>
        </p:nvSpPr>
        <p:spPr/>
        <p:txBody>
          <a:bodyPr/>
          <a:lstStyle/>
          <a:p>
            <a:r>
              <a:rPr lang="en-US" dirty="0"/>
              <a:t>	Shortest Job First</a:t>
            </a:r>
          </a:p>
        </p:txBody>
      </p:sp>
      <p:sp>
        <p:nvSpPr>
          <p:cNvPr id="3" name="Content Placeholder 2">
            <a:extLst>
              <a:ext uri="{FF2B5EF4-FFF2-40B4-BE49-F238E27FC236}">
                <a16:creationId xmlns:a16="http://schemas.microsoft.com/office/drawing/2014/main" id="{E1E49BC7-0165-275B-8210-59FF80C08F54}"/>
              </a:ext>
            </a:extLst>
          </p:cNvPr>
          <p:cNvSpPr>
            <a:spLocks noGrp="1"/>
          </p:cNvSpPr>
          <p:nvPr>
            <p:ph sz="quarter" idx="13"/>
          </p:nvPr>
        </p:nvSpPr>
        <p:spPr/>
        <p:txBody>
          <a:bodyPr>
            <a:normAutofit lnSpcReduction="10000"/>
          </a:bodyPr>
          <a:lstStyle/>
          <a:p>
            <a:pPr marL="342900" indent="-342900">
              <a:buFont typeface="Arial" panose="020B0604020202020204" pitchFamily="34" charset="0"/>
              <a:buChar char="•"/>
            </a:pPr>
            <a:r>
              <a:rPr lang="en-US" dirty="0"/>
              <a:t>A slightly more complex scheduling algorithm, it queues arriving processes in order of shortest burst time, then executes the front of the queue until completion </a:t>
            </a:r>
          </a:p>
          <a:p>
            <a:pPr marL="342900" indent="-342900">
              <a:buFont typeface="Arial" panose="020B0604020202020204" pitchFamily="34" charset="0"/>
              <a:buChar char="•"/>
            </a:pPr>
            <a:r>
              <a:rPr lang="en-US" dirty="0"/>
              <a:t>Advantages</a:t>
            </a:r>
          </a:p>
          <a:p>
            <a:pPr marL="1028700" lvl="1" indent="-342900"/>
            <a:r>
              <a:rPr lang="en-US" sz="1400" dirty="0"/>
              <a:t>Can minimize waiting time when given predictable job lengths</a:t>
            </a:r>
          </a:p>
          <a:p>
            <a:pPr marL="1028700" lvl="1" indent="-342900"/>
            <a:r>
              <a:rPr lang="en-US" sz="1400" dirty="0"/>
              <a:t>Has a high throughput in the short term </a:t>
            </a:r>
          </a:p>
          <a:p>
            <a:pPr marL="342900" indent="-342900">
              <a:buFont typeface="Arial" panose="020B0604020202020204" pitchFamily="34" charset="0"/>
              <a:buChar char="•"/>
            </a:pPr>
            <a:r>
              <a:rPr lang="en-US" dirty="0"/>
              <a:t>Disadvantages</a:t>
            </a:r>
          </a:p>
          <a:p>
            <a:pPr marL="1028700" lvl="1" indent="-342900"/>
            <a:r>
              <a:rPr lang="en-US" sz="1400" dirty="0"/>
              <a:t>Shorter jobs arriving regularly can starve longer jobs and balloon their wait times</a:t>
            </a:r>
          </a:p>
          <a:p>
            <a:pPr marL="1028700" lvl="1" indent="-342900"/>
            <a:r>
              <a:rPr lang="en-US" sz="1400" dirty="0"/>
              <a:t>Very dependent on receiving certain workload types</a:t>
            </a:r>
          </a:p>
          <a:p>
            <a:pPr marL="1028700" lvl="1" indent="-342900"/>
            <a:r>
              <a:rPr lang="en-US" sz="1400" dirty="0"/>
              <a:t>Can be unfair to larger jobs which arrive early but still have long waiting times</a:t>
            </a:r>
          </a:p>
        </p:txBody>
      </p:sp>
      <p:pic>
        <p:nvPicPr>
          <p:cNvPr id="5" name="Picture 2">
            <a:extLst>
              <a:ext uri="{FF2B5EF4-FFF2-40B4-BE49-F238E27FC236}">
                <a16:creationId xmlns:a16="http://schemas.microsoft.com/office/drawing/2014/main" id="{98801A39-167B-BC2B-F52A-7114797E60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94938" y="1526533"/>
            <a:ext cx="3704897" cy="4689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38287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A8752-98B5-C444-6954-E0DD91E6DD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6E452C-748A-C32E-F263-8D43D34B27D9}"/>
              </a:ext>
            </a:extLst>
          </p:cNvPr>
          <p:cNvSpPr>
            <a:spLocks noGrp="1"/>
          </p:cNvSpPr>
          <p:nvPr>
            <p:ph type="title"/>
          </p:nvPr>
        </p:nvSpPr>
        <p:spPr/>
        <p:txBody>
          <a:bodyPr/>
          <a:lstStyle/>
          <a:p>
            <a:r>
              <a:rPr lang="en-US" dirty="0"/>
              <a:t>Shortest Job First testing </a:t>
            </a:r>
          </a:p>
        </p:txBody>
      </p:sp>
      <p:sp>
        <p:nvSpPr>
          <p:cNvPr id="7" name="Content Placeholder 6">
            <a:extLst>
              <a:ext uri="{FF2B5EF4-FFF2-40B4-BE49-F238E27FC236}">
                <a16:creationId xmlns:a16="http://schemas.microsoft.com/office/drawing/2014/main" id="{2F7BC35A-7693-40DE-C254-9B88C9DF33EB}"/>
              </a:ext>
            </a:extLst>
          </p:cNvPr>
          <p:cNvSpPr>
            <a:spLocks noGrp="1"/>
          </p:cNvSpPr>
          <p:nvPr>
            <p:ph sz="quarter" idx="13"/>
          </p:nvPr>
        </p:nvSpPr>
        <p:spPr/>
        <p:txBody>
          <a:bodyPr/>
          <a:lstStyle/>
          <a:p>
            <a:pPr marL="342900" indent="-342900">
              <a:buFont typeface="Arial" panose="020B0604020202020204" pitchFamily="34" charset="0"/>
              <a:buChar char="•"/>
            </a:pPr>
            <a:r>
              <a:rPr lang="en-US" dirty="0"/>
              <a:t>Both data sets contain mostly small jobs, along with a larger one, this algorithm is manageable when there are nearly all small jobs, and if there are larger jobs, the scheduler is less busy</a:t>
            </a:r>
          </a:p>
          <a:p>
            <a:pPr marL="342900" indent="-342900">
              <a:buFont typeface="Arial" panose="020B0604020202020204" pitchFamily="34" charset="0"/>
              <a:buChar char="•"/>
            </a:pPr>
            <a:r>
              <a:rPr lang="en-US" dirty="0"/>
              <a:t>In the advantaged dataset, there are a few smaller jobs and one larger job, allowing relative efficiency</a:t>
            </a:r>
          </a:p>
          <a:p>
            <a:pPr marL="342900" indent="-342900">
              <a:buFont typeface="Arial" panose="020B0604020202020204" pitchFamily="34" charset="0"/>
              <a:buChar char="•"/>
            </a:pPr>
            <a:r>
              <a:rPr lang="en-US" dirty="0"/>
              <a:t>In the disadvantaged dataset, there are many smaller jobs alongside the longer job, starving it from the CPU</a:t>
            </a:r>
          </a:p>
        </p:txBody>
      </p:sp>
      <p:pic>
        <p:nvPicPr>
          <p:cNvPr id="13" name="Picture 12">
            <a:extLst>
              <a:ext uri="{FF2B5EF4-FFF2-40B4-BE49-F238E27FC236}">
                <a16:creationId xmlns:a16="http://schemas.microsoft.com/office/drawing/2014/main" id="{08B28624-AE4B-774C-37B5-FB8C8A01DFAD}"/>
              </a:ext>
            </a:extLst>
          </p:cNvPr>
          <p:cNvPicPr>
            <a:picLocks noChangeAspect="1"/>
          </p:cNvPicPr>
          <p:nvPr/>
        </p:nvPicPr>
        <p:blipFill>
          <a:blip r:embed="rId2"/>
          <a:stretch>
            <a:fillRect/>
          </a:stretch>
        </p:blipFill>
        <p:spPr>
          <a:xfrm>
            <a:off x="7175659" y="1941219"/>
            <a:ext cx="3580366" cy="4290102"/>
          </a:xfrm>
          <a:prstGeom prst="rect">
            <a:avLst/>
          </a:prstGeom>
        </p:spPr>
      </p:pic>
      <p:sp>
        <p:nvSpPr>
          <p:cNvPr id="16" name="Oval 15">
            <a:extLst>
              <a:ext uri="{FF2B5EF4-FFF2-40B4-BE49-F238E27FC236}">
                <a16:creationId xmlns:a16="http://schemas.microsoft.com/office/drawing/2014/main" id="{CEB9DB62-D811-7969-C13E-8BFEF5FE0698}"/>
              </a:ext>
            </a:extLst>
          </p:cNvPr>
          <p:cNvSpPr/>
          <p:nvPr/>
        </p:nvSpPr>
        <p:spPr>
          <a:xfrm>
            <a:off x="9048611" y="4591707"/>
            <a:ext cx="331871" cy="283780"/>
          </a:xfrm>
          <a:prstGeom prst="ellipse">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26453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97410-2519-92DF-8AE7-60A582F822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CCB075-D492-1EB7-5E6C-E9E1A54AA923}"/>
              </a:ext>
            </a:extLst>
          </p:cNvPr>
          <p:cNvSpPr>
            <a:spLocks noGrp="1"/>
          </p:cNvSpPr>
          <p:nvPr>
            <p:ph type="title"/>
          </p:nvPr>
        </p:nvSpPr>
        <p:spPr/>
        <p:txBody>
          <a:bodyPr/>
          <a:lstStyle/>
          <a:p>
            <a:r>
              <a:rPr lang="en-US" dirty="0"/>
              <a:t>Shortest Remaining</a:t>
            </a:r>
            <a:br>
              <a:rPr lang="en-US" dirty="0"/>
            </a:br>
            <a:r>
              <a:rPr lang="en-US" dirty="0"/>
              <a:t>Time First</a:t>
            </a:r>
          </a:p>
        </p:txBody>
      </p:sp>
      <p:sp>
        <p:nvSpPr>
          <p:cNvPr id="3" name="Content Placeholder 2">
            <a:extLst>
              <a:ext uri="{FF2B5EF4-FFF2-40B4-BE49-F238E27FC236}">
                <a16:creationId xmlns:a16="http://schemas.microsoft.com/office/drawing/2014/main" id="{1564C0F5-A586-0F38-330D-D96E74088D2E}"/>
              </a:ext>
            </a:extLst>
          </p:cNvPr>
          <p:cNvSpPr>
            <a:spLocks noGrp="1"/>
          </p:cNvSpPr>
          <p:nvPr>
            <p:ph sz="quarter" idx="13"/>
          </p:nvPr>
        </p:nvSpPr>
        <p:spPr/>
        <p:txBody>
          <a:bodyPr>
            <a:normAutofit lnSpcReduction="10000"/>
          </a:bodyPr>
          <a:lstStyle/>
          <a:p>
            <a:pPr marL="342900" indent="-342900">
              <a:buFont typeface="Arial" panose="020B0604020202020204" pitchFamily="34" charset="0"/>
              <a:buChar char="•"/>
            </a:pPr>
            <a:r>
              <a:rPr lang="en-US" dirty="0"/>
              <a:t>An evolved version of SJF, it queues arriving processes in order of shortest burst time, with the queue updating every unit of time. Rather than executing every job until completion, the scheduler will switch if a new job comes along with a shorter remaining burst time</a:t>
            </a:r>
          </a:p>
          <a:p>
            <a:pPr marL="342900" indent="-342900">
              <a:buFont typeface="Arial" panose="020B0604020202020204" pitchFamily="34" charset="0"/>
              <a:buChar char="•"/>
            </a:pPr>
            <a:r>
              <a:rPr lang="en-US" dirty="0"/>
              <a:t>Advantages</a:t>
            </a:r>
          </a:p>
          <a:p>
            <a:pPr marL="1028700" lvl="1" indent="-342900"/>
            <a:r>
              <a:rPr lang="en-US" sz="1400" dirty="0"/>
              <a:t>Best average turnaround time</a:t>
            </a:r>
          </a:p>
          <a:p>
            <a:pPr marL="1028700" lvl="1" indent="-342900"/>
            <a:r>
              <a:rPr lang="en-US" sz="1400" dirty="0"/>
              <a:t>More efficient on some mixed workloads where SJF and FCFS fall short</a:t>
            </a:r>
          </a:p>
          <a:p>
            <a:pPr marL="342900" indent="-342900">
              <a:buFont typeface="Arial" panose="020B0604020202020204" pitchFamily="34" charset="0"/>
              <a:buChar char="•"/>
            </a:pPr>
            <a:r>
              <a:rPr lang="en-US" dirty="0"/>
              <a:t>Disadvantages</a:t>
            </a:r>
          </a:p>
          <a:p>
            <a:pPr marL="1028700" lvl="1" indent="-342900"/>
            <a:r>
              <a:rPr lang="en-US" sz="1400" dirty="0"/>
              <a:t>Highly complex, and can starve outlier longer processes like SJF</a:t>
            </a:r>
          </a:p>
        </p:txBody>
      </p:sp>
      <p:pic>
        <p:nvPicPr>
          <p:cNvPr id="5" name="Picture 2">
            <a:extLst>
              <a:ext uri="{FF2B5EF4-FFF2-40B4-BE49-F238E27FC236}">
                <a16:creationId xmlns:a16="http://schemas.microsoft.com/office/drawing/2014/main" id="{C9CA2DC7-21FA-ABE4-5DFC-81E1ED1D4CDA}"/>
              </a:ext>
            </a:extLst>
          </p:cNvPr>
          <p:cNvPicPr>
            <a:picLocks noGrp="1" noChangeAspect="1" noChangeArrowheads="1"/>
          </p:cNvPicPr>
          <p:nvPr>
            <p:ph sz="quarter" idx="14"/>
          </p:nvPr>
        </p:nvPicPr>
        <p:blipFill>
          <a:blip r:embed="rId2">
            <a:extLst>
              <a:ext uri="{28A0092B-C50C-407E-A947-70E740481C1C}">
                <a14:useLocalDpi xmlns:a14="http://schemas.microsoft.com/office/drawing/2010/main" val="0"/>
              </a:ext>
            </a:extLst>
          </a:blip>
          <a:srcRect/>
          <a:stretch>
            <a:fillRect/>
          </a:stretch>
        </p:blipFill>
        <p:spPr bwMode="auto">
          <a:xfrm>
            <a:off x="6968359" y="739043"/>
            <a:ext cx="3302703" cy="5731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4755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37B7A-7C98-8375-C10B-A46C301455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B17F1C-787D-35F9-9CC6-10ED2CC1547A}"/>
              </a:ext>
            </a:extLst>
          </p:cNvPr>
          <p:cNvSpPr>
            <a:spLocks noGrp="1"/>
          </p:cNvSpPr>
          <p:nvPr>
            <p:ph type="title"/>
          </p:nvPr>
        </p:nvSpPr>
        <p:spPr/>
        <p:txBody>
          <a:bodyPr/>
          <a:lstStyle/>
          <a:p>
            <a:r>
              <a:rPr lang="en-US" dirty="0"/>
              <a:t>Shortest Remaining Time First Testing</a:t>
            </a:r>
          </a:p>
        </p:txBody>
      </p:sp>
      <p:sp>
        <p:nvSpPr>
          <p:cNvPr id="7" name="Content Placeholder 6">
            <a:extLst>
              <a:ext uri="{FF2B5EF4-FFF2-40B4-BE49-F238E27FC236}">
                <a16:creationId xmlns:a16="http://schemas.microsoft.com/office/drawing/2014/main" id="{263B7B17-AF77-7816-77B1-F16B85EBAA7E}"/>
              </a:ext>
            </a:extLst>
          </p:cNvPr>
          <p:cNvSpPr>
            <a:spLocks noGrp="1"/>
          </p:cNvSpPr>
          <p:nvPr>
            <p:ph sz="quarter" idx="13"/>
          </p:nvPr>
        </p:nvSpPr>
        <p:spPr/>
        <p:txBody>
          <a:bodyPr/>
          <a:lstStyle/>
          <a:p>
            <a:pPr marL="342900" indent="-342900">
              <a:buFont typeface="Arial" panose="020B0604020202020204" pitchFamily="34" charset="0"/>
              <a:buChar char="•"/>
            </a:pPr>
            <a:r>
              <a:rPr lang="en-US" dirty="0"/>
              <a:t>The same data set used for SJF, both sets contain mostly small jobs, along with a larger one</a:t>
            </a:r>
          </a:p>
          <a:p>
            <a:pPr marL="342900" indent="-342900">
              <a:buFont typeface="Arial" panose="020B0604020202020204" pitchFamily="34" charset="0"/>
              <a:buChar char="•"/>
            </a:pPr>
            <a:r>
              <a:rPr lang="en-US" dirty="0"/>
              <a:t>In the advantaged dataset, there are a few smaller jobs and one larger job, allowing relative efficiency, notice the switch in the Gantt chart</a:t>
            </a:r>
          </a:p>
          <a:p>
            <a:pPr marL="342900" indent="-342900">
              <a:buFont typeface="Arial" panose="020B0604020202020204" pitchFamily="34" charset="0"/>
              <a:buChar char="•"/>
            </a:pPr>
            <a:r>
              <a:rPr lang="en-US" dirty="0"/>
              <a:t>In the disadvantaged dataset, there are many smaller jobs alongside the longer job, starving it from the CPU, no different from SJF</a:t>
            </a:r>
          </a:p>
          <a:p>
            <a:endParaRPr lang="en-US" dirty="0"/>
          </a:p>
        </p:txBody>
      </p:sp>
      <p:pic>
        <p:nvPicPr>
          <p:cNvPr id="9" name="Picture 8">
            <a:extLst>
              <a:ext uri="{FF2B5EF4-FFF2-40B4-BE49-F238E27FC236}">
                <a16:creationId xmlns:a16="http://schemas.microsoft.com/office/drawing/2014/main" id="{9189AC25-D3F1-1C10-8081-6E09961CA4FB}"/>
              </a:ext>
            </a:extLst>
          </p:cNvPr>
          <p:cNvPicPr>
            <a:picLocks noChangeAspect="1"/>
          </p:cNvPicPr>
          <p:nvPr/>
        </p:nvPicPr>
        <p:blipFill>
          <a:blip r:embed="rId2"/>
          <a:stretch>
            <a:fillRect/>
          </a:stretch>
        </p:blipFill>
        <p:spPr>
          <a:xfrm>
            <a:off x="7154567" y="2005487"/>
            <a:ext cx="3442834" cy="4170654"/>
          </a:xfrm>
          <a:prstGeom prst="rect">
            <a:avLst/>
          </a:prstGeom>
        </p:spPr>
      </p:pic>
      <p:sp>
        <p:nvSpPr>
          <p:cNvPr id="10" name="Oval 9">
            <a:extLst>
              <a:ext uri="{FF2B5EF4-FFF2-40B4-BE49-F238E27FC236}">
                <a16:creationId xmlns:a16="http://schemas.microsoft.com/office/drawing/2014/main" id="{83A250ED-3134-1B85-61B2-4BB87E5E0A76}"/>
              </a:ext>
            </a:extLst>
          </p:cNvPr>
          <p:cNvSpPr/>
          <p:nvPr/>
        </p:nvSpPr>
        <p:spPr>
          <a:xfrm>
            <a:off x="8454257" y="3681248"/>
            <a:ext cx="421727" cy="236483"/>
          </a:xfrm>
          <a:prstGeom prst="ellipse">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21674539-B622-2B96-50D1-F8FD64BF19CC}"/>
              </a:ext>
            </a:extLst>
          </p:cNvPr>
          <p:cNvSpPr/>
          <p:nvPr/>
        </p:nvSpPr>
        <p:spPr>
          <a:xfrm>
            <a:off x="8497614" y="5813534"/>
            <a:ext cx="532085" cy="409903"/>
          </a:xfrm>
          <a:prstGeom prst="ellipse">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1AC62ACB-48A9-9D25-60C6-3E754D375273}"/>
              </a:ext>
            </a:extLst>
          </p:cNvPr>
          <p:cNvSpPr/>
          <p:nvPr/>
        </p:nvSpPr>
        <p:spPr>
          <a:xfrm>
            <a:off x="9274067" y="4564117"/>
            <a:ext cx="338958" cy="264073"/>
          </a:xfrm>
          <a:prstGeom prst="ellipse">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78761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22F20-CD57-4C71-9C98-B44B3D88A5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5067D3-6404-9AD6-D047-9964B1C3AF95}"/>
              </a:ext>
            </a:extLst>
          </p:cNvPr>
          <p:cNvSpPr>
            <a:spLocks noGrp="1"/>
          </p:cNvSpPr>
          <p:nvPr>
            <p:ph type="title"/>
          </p:nvPr>
        </p:nvSpPr>
        <p:spPr/>
        <p:txBody>
          <a:bodyPr/>
          <a:lstStyle/>
          <a:p>
            <a:r>
              <a:rPr lang="en-US" dirty="0"/>
              <a:t>	Round Robin</a:t>
            </a:r>
          </a:p>
        </p:txBody>
      </p:sp>
      <p:sp>
        <p:nvSpPr>
          <p:cNvPr id="3" name="Content Placeholder 2">
            <a:extLst>
              <a:ext uri="{FF2B5EF4-FFF2-40B4-BE49-F238E27FC236}">
                <a16:creationId xmlns:a16="http://schemas.microsoft.com/office/drawing/2014/main" id="{55A4CC65-A26D-8D7F-9756-DF01A96FC30D}"/>
              </a:ext>
            </a:extLst>
          </p:cNvPr>
          <p:cNvSpPr>
            <a:spLocks noGrp="1"/>
          </p:cNvSpPr>
          <p:nvPr>
            <p:ph sz="quarter" idx="13"/>
          </p:nvPr>
        </p:nvSpPr>
        <p:spPr/>
        <p:txBody>
          <a:bodyPr>
            <a:normAutofit lnSpcReduction="10000"/>
          </a:bodyPr>
          <a:lstStyle/>
          <a:p>
            <a:pPr marL="342900" indent="-342900">
              <a:buFont typeface="Arial" panose="020B0604020202020204" pitchFamily="34" charset="0"/>
              <a:buChar char="•"/>
            </a:pPr>
            <a:r>
              <a:rPr lang="en-US" dirty="0"/>
              <a:t>This algorithm returns to sorting the queue in order of arrival time, however rather than executing the whole job it executes each job in the queue for a set time, the quantum, then places that job back at the end of the queue if it does not finish</a:t>
            </a:r>
          </a:p>
          <a:p>
            <a:pPr marL="342900" indent="-342900">
              <a:buFont typeface="Arial" panose="020B0604020202020204" pitchFamily="34" charset="0"/>
              <a:buChar char="•"/>
            </a:pPr>
            <a:r>
              <a:rPr lang="en-US" dirty="0"/>
              <a:t>Advantages</a:t>
            </a:r>
          </a:p>
          <a:p>
            <a:pPr marL="1028700" lvl="1" indent="-342900"/>
            <a:r>
              <a:rPr lang="en-US" sz="1400" dirty="0"/>
              <a:t>The fairest system, every process gets equal time on the CPU</a:t>
            </a:r>
          </a:p>
          <a:p>
            <a:pPr marL="1028700" lvl="1" indent="-342900"/>
            <a:r>
              <a:rPr lang="en-US" sz="1400" dirty="0"/>
              <a:t>Great for lots of processes of similar lengths</a:t>
            </a:r>
          </a:p>
          <a:p>
            <a:pPr marL="342900" indent="-342900">
              <a:buFont typeface="Arial" panose="020B0604020202020204" pitchFamily="34" charset="0"/>
              <a:buChar char="•"/>
            </a:pPr>
            <a:r>
              <a:rPr lang="en-US" dirty="0"/>
              <a:t>Disadvantages</a:t>
            </a:r>
          </a:p>
          <a:p>
            <a:pPr marL="1028700" lvl="1" indent="-342900"/>
            <a:r>
              <a:rPr lang="en-US" sz="1400" dirty="0"/>
              <a:t>The quantum must be the right size, too small the constant switching creates a large overhead, too large it behaves like the inefficient FCFS</a:t>
            </a:r>
          </a:p>
        </p:txBody>
      </p:sp>
      <p:pic>
        <p:nvPicPr>
          <p:cNvPr id="5" name="Picture 2">
            <a:extLst>
              <a:ext uri="{FF2B5EF4-FFF2-40B4-BE49-F238E27FC236}">
                <a16:creationId xmlns:a16="http://schemas.microsoft.com/office/drawing/2014/main" id="{C9F6FE2A-5CB8-04BA-0E43-C95419D13006}"/>
              </a:ext>
            </a:extLst>
          </p:cNvPr>
          <p:cNvPicPr>
            <a:picLocks noGrp="1" noChangeAspect="1" noChangeArrowheads="1"/>
          </p:cNvPicPr>
          <p:nvPr>
            <p:ph sz="quarter" idx="14"/>
          </p:nvPr>
        </p:nvPicPr>
        <p:blipFill>
          <a:blip r:embed="rId2">
            <a:extLst>
              <a:ext uri="{28A0092B-C50C-407E-A947-70E740481C1C}">
                <a14:useLocalDpi xmlns:a14="http://schemas.microsoft.com/office/drawing/2010/main" val="0"/>
              </a:ext>
            </a:extLst>
          </a:blip>
          <a:srcRect/>
          <a:stretch>
            <a:fillRect/>
          </a:stretch>
        </p:blipFill>
        <p:spPr bwMode="auto">
          <a:xfrm>
            <a:off x="7327025" y="1576651"/>
            <a:ext cx="3672526" cy="4697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1173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E7869-0847-EEF9-C790-6A78B7120A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72F165-BB25-B631-7E8A-11D1AFDB8B29}"/>
              </a:ext>
            </a:extLst>
          </p:cNvPr>
          <p:cNvSpPr>
            <a:spLocks noGrp="1"/>
          </p:cNvSpPr>
          <p:nvPr>
            <p:ph type="title"/>
          </p:nvPr>
        </p:nvSpPr>
        <p:spPr/>
        <p:txBody>
          <a:bodyPr/>
          <a:lstStyle/>
          <a:p>
            <a:r>
              <a:rPr lang="en-US" dirty="0"/>
              <a:t>Round Robin Testing</a:t>
            </a:r>
          </a:p>
        </p:txBody>
      </p:sp>
      <p:sp>
        <p:nvSpPr>
          <p:cNvPr id="3" name="Content Placeholder 2">
            <a:extLst>
              <a:ext uri="{FF2B5EF4-FFF2-40B4-BE49-F238E27FC236}">
                <a16:creationId xmlns:a16="http://schemas.microsoft.com/office/drawing/2014/main" id="{842D7E9C-BD06-A063-9FA3-BBF3B60E842F}"/>
              </a:ext>
            </a:extLst>
          </p:cNvPr>
          <p:cNvSpPr>
            <a:spLocks noGrp="1"/>
          </p:cNvSpPr>
          <p:nvPr>
            <p:ph sz="quarter" idx="13"/>
          </p:nvPr>
        </p:nvSpPr>
        <p:spPr/>
        <p:txBody>
          <a:bodyPr/>
          <a:lstStyle/>
          <a:p>
            <a:pPr marL="342900" indent="-342900">
              <a:buFont typeface="Arial" panose="020B0604020202020204" pitchFamily="34" charset="0"/>
              <a:buChar char="•"/>
            </a:pPr>
            <a:r>
              <a:rPr lang="en-US" dirty="0"/>
              <a:t>In the advantaged data set, there are four jobs of equal length, notice the low response time, and decent waiting and turnaround times relative to the job’s burst times.</a:t>
            </a:r>
          </a:p>
          <a:p>
            <a:pPr marL="342900" indent="-342900">
              <a:buFont typeface="Arial" panose="020B0604020202020204" pitchFamily="34" charset="0"/>
              <a:buChar char="•"/>
            </a:pPr>
            <a:r>
              <a:rPr lang="en-US" dirty="0"/>
              <a:t> This is the same disadvantaged dataset as in SJF and SRTF, notice how it also struggles with the bigger task being starved by shorter ones.</a:t>
            </a:r>
          </a:p>
        </p:txBody>
      </p:sp>
      <p:pic>
        <p:nvPicPr>
          <p:cNvPr id="10" name="Picture 9">
            <a:extLst>
              <a:ext uri="{FF2B5EF4-FFF2-40B4-BE49-F238E27FC236}">
                <a16:creationId xmlns:a16="http://schemas.microsoft.com/office/drawing/2014/main" id="{931AEFFB-CAFD-56BB-7C3F-5DD64C56A0FC}"/>
              </a:ext>
            </a:extLst>
          </p:cNvPr>
          <p:cNvPicPr>
            <a:picLocks noChangeAspect="1"/>
          </p:cNvPicPr>
          <p:nvPr/>
        </p:nvPicPr>
        <p:blipFill>
          <a:blip r:embed="rId2"/>
          <a:stretch>
            <a:fillRect/>
          </a:stretch>
        </p:blipFill>
        <p:spPr>
          <a:xfrm>
            <a:off x="6571115" y="1455829"/>
            <a:ext cx="3633117" cy="4440476"/>
          </a:xfrm>
          <a:prstGeom prst="rect">
            <a:avLst/>
          </a:prstGeom>
        </p:spPr>
      </p:pic>
      <p:sp>
        <p:nvSpPr>
          <p:cNvPr id="11" name="Oval 10">
            <a:extLst>
              <a:ext uri="{FF2B5EF4-FFF2-40B4-BE49-F238E27FC236}">
                <a16:creationId xmlns:a16="http://schemas.microsoft.com/office/drawing/2014/main" id="{776AC010-B000-325A-727A-E5A5E8DB8191}"/>
              </a:ext>
            </a:extLst>
          </p:cNvPr>
          <p:cNvSpPr/>
          <p:nvPr/>
        </p:nvSpPr>
        <p:spPr>
          <a:xfrm>
            <a:off x="8450318" y="4221217"/>
            <a:ext cx="275896" cy="299545"/>
          </a:xfrm>
          <a:prstGeom prst="ellipse">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63054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02928-CB8F-2598-60D9-61FE3D2DFB39}"/>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16A8EE7D-31F3-80B8-F446-6500E79A211E}"/>
              </a:ext>
            </a:extLst>
          </p:cNvPr>
          <p:cNvSpPr>
            <a:spLocks noGrp="1"/>
          </p:cNvSpPr>
          <p:nvPr>
            <p:ph sz="quarter" idx="13"/>
          </p:nvPr>
        </p:nvSpPr>
        <p:spPr/>
        <p:txBody>
          <a:bodyPr/>
          <a:lstStyle/>
          <a:p>
            <a:r>
              <a:rPr lang="en-US" dirty="0"/>
              <a:t>There is no ‘best’ algorithm for all uses, if there was, every application  would just use that one every time all the time</a:t>
            </a:r>
          </a:p>
          <a:p>
            <a:r>
              <a:rPr lang="en-US" dirty="0"/>
              <a:t>Instead, there are times in which different approaches are optimal depending on the context of the data, and the wants and needs of the scheduler</a:t>
            </a:r>
          </a:p>
          <a:p>
            <a:r>
              <a:rPr lang="en-US" dirty="0"/>
              <a:t>Understanding these algorithms helps system designers balance fairness, efficiency, and responsiveness within modern operating systems</a:t>
            </a:r>
          </a:p>
          <a:p>
            <a:pPr marL="0" indent="0">
              <a:buNone/>
            </a:pPr>
            <a:endParaRPr lang="en-US" dirty="0"/>
          </a:p>
        </p:txBody>
      </p:sp>
    </p:spTree>
    <p:extLst>
      <p:ext uri="{BB962C8B-B14F-4D97-AF65-F5344CB8AC3E}">
        <p14:creationId xmlns:p14="http://schemas.microsoft.com/office/powerpoint/2010/main" val="805495083"/>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2.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{DD635B86-4CF2-417B-A5CB-59E3C7075136}TFd3b75063-ff25-434d-b12c-efeaf07d16c3292f62b5_win32-75a75c970d8e</Template>
  <TotalTime>903</TotalTime>
  <Words>770</Words>
  <Application>Microsoft Office PowerPoint</Application>
  <PresentationFormat>Widescreen</PresentationFormat>
  <Paragraphs>60</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Franklin Gothic Book</vt:lpstr>
      <vt:lpstr>Franklin Gothic Demi</vt:lpstr>
      <vt:lpstr>Custom</vt:lpstr>
      <vt:lpstr>CPU Scheduling FCFS, SJF, SRTF, and Round Robin  </vt:lpstr>
      <vt:lpstr>CPU Scheduling Overview And Important Concepts</vt:lpstr>
      <vt:lpstr> First-Come First-Served</vt:lpstr>
      <vt:lpstr> First-Come First-Served Testing</vt:lpstr>
      <vt:lpstr> Shortest Job First</vt:lpstr>
      <vt:lpstr>Shortest Job First testing </vt:lpstr>
      <vt:lpstr>Shortest Remaining Time First</vt:lpstr>
      <vt:lpstr>Shortest Remaining Time First Testing</vt:lpstr>
      <vt:lpstr> Round Robin</vt:lpstr>
      <vt:lpstr>Round Robin Testing</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Nathan Posniak</dc:creator>
  <cp:lastModifiedBy>Nathan Posniak</cp:lastModifiedBy>
  <cp:revision>1</cp:revision>
  <dcterms:created xsi:type="dcterms:W3CDTF">2025-11-15T04:32:21Z</dcterms:created>
  <dcterms:modified xsi:type="dcterms:W3CDTF">2025-11-15T19:35:58Z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